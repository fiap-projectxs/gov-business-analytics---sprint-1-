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D9E1"/>
                </a:solidFill>
                <a:latin typeface="Arial"/>
              </a:rPr>
              <a:t>CHALLENGE MOTIVA  / 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960120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Governança da
interação por voz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90525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CE7EF"/>
                </a:solidFill>
                <a:latin typeface="Arial"/>
              </a:rPr>
              <a:t>Critérios para o agente Raly apoiar a operação rodoviária com acesso controlado, confirmação humana e rastreabilidade.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977639"/>
            <a:ext cx="4617720" cy="0"/>
          </a:xfrm>
          <a:prstGeom prst="line">
            <a:avLst/>
          </a:prstGeom>
          <a:ln w="38100">
            <a:solidFill>
              <a:srgbClr val="0B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224528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Rodrigo Wolkoff Giorgi  ·  Carlos Mamede Eduardo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C5D2"/>
                </a:solidFill>
                <a:latin typeface="Arial"/>
              </a:rPr>
              <a:t>Governança em IA e Business Analytics  |  FIAP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5870448"/>
            <a:ext cx="15544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ED9E1"/>
                </a:solidFill>
                <a:latin typeface="Arial"/>
              </a:rPr>
              <a:t>RALY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Cada persona acessa apenas o necessário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Menor privilégio aplicado às cinco personas da operação.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64238" cy="403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749039"/>
                <a:gridCol w="5440680"/>
              </a:tblGrid>
              <a:tr h="41148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Pode consultar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Limite de acesso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8283A"/>
                          </a:solidFill>
                          <a:latin typeface="Arial"/>
                        </a:rPr>
                        <a:t>Inspeção de tráfego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Ocorrências do trecho e procedimentos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Registra e atualiza ocorrências; não vê dados clínicos.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8283A"/>
                          </a:solidFill>
                          <a:latin typeface="Arial"/>
                        </a:rPr>
                        <a:t>Guincho / recurso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Missão atribuída, local e procedimentos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Recebe “há vítima no local”; sem dados clínicos.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8283A"/>
                          </a:solidFill>
                          <a:latin typeface="Arial"/>
                        </a:rPr>
                        <a:t>APH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Atendimento atribuído e protocolos aprovados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Acessa dados de saúde necessários ao atendimento.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8283A"/>
                          </a:solidFill>
                          <a:latin typeface="Arial"/>
                        </a:rPr>
                        <a:t>Supervisor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Operação do turno e pendências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Valida inconsistências; clínica apenas agregada.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8283A"/>
                          </a:solidFill>
                          <a:latin typeface="Arial"/>
                        </a:rPr>
                        <a:t>Coordenação / gerência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Indicadores e sínteses operacionais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8283A"/>
                          </a:solidFill>
                          <a:latin typeface="Arial"/>
                        </a:rPr>
                        <a:t>Dados clínicos somente agregados e anonimizados.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687568"/>
            <a:ext cx="11064240" cy="667512"/>
          </a:xfrm>
          <a:prstGeom prst="rect">
            <a:avLst/>
          </a:prstGeom>
          <a:solidFill>
            <a:srgbClr val="DC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751576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2E49"/>
                </a:solidFill>
                <a:latin typeface="Arial"/>
              </a:rPr>
              <a:t>Saúde: dado sensível (art. 11, II, “e” ou “f”, conforme o caso), acesso APH. Vozes incidentais: descarte. Voz e geolocalização: coleta limitada à operação autorizada; base e retenção dependem de validação com DPO/jurídico.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As responsabilidades acompanham cada decisão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Distribuição acadêmica do grupo; não substitui designações formais da Motiva.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53949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PAPÉIS NO 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51206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E49"/>
                </a:solidFill>
                <a:latin typeface="Arial"/>
              </a:rPr>
              <a:t>Rodrigo Wolkoff Giorgi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51663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B78"/>
                </a:solidFill>
                <a:latin typeface="Arial"/>
              </a:rPr>
              <a:t>Data Owner  ·  DPO  ·  AI Ethics Officer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706624"/>
            <a:ext cx="4572000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907792"/>
            <a:ext cx="5029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E49"/>
                </a:solidFill>
                <a:latin typeface="Arial"/>
              </a:rPr>
              <a:t>Carlos Mamede Eduardo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10128"/>
            <a:ext cx="5120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B78"/>
                </a:solidFill>
                <a:latin typeface="Arial"/>
              </a:rPr>
              <a:t>Data Steward  ·  Data Custodian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24528"/>
            <a:ext cx="48463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F63"/>
                </a:solidFill>
                <a:latin typeface="Arial"/>
              </a:rPr>
              <a:t>A = responde pela decisão
R = executa
C = consultado  ·  I = informado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15000" y="1353312"/>
          <a:ext cx="5897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25880"/>
                <a:gridCol w="1463040"/>
                <a:gridCol w="1371600"/>
              </a:tblGrid>
              <a:tr h="41148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Decisão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 / I</a:t>
                      </a:r>
                    </a:p>
                  </a:txBody>
                  <a:tcPr marL="73152" marR="64008" marT="36576" marB="36576">
                    <a:solidFill>
                      <a:srgbClr val="1B2E49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105156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8283A"/>
                          </a:solidFill>
                          <a:latin typeface="Arial"/>
                        </a:rPr>
                        <a:t>Aprovar procedimentos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Data Owner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Data Steward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Custodian, DPO e Ethics: C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105156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8283A"/>
                          </a:solidFill>
                          <a:latin typeface="Arial"/>
                        </a:rPr>
                        <a:t>Validar inconsistências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Data Steward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Data Steward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Custodian e Ethics: C; Owner e DPO: I</a:t>
                      </a:r>
                    </a:p>
                  </a:txBody>
                  <a:tcPr marL="73152" marR="64008" marT="36576" marB="36576">
                    <a:solidFill>
                      <a:srgbClr val="EDF3F5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  <a:tr h="105156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8283A"/>
                          </a:solidFill>
                          <a:latin typeface="Arial"/>
                        </a:rPr>
                        <a:t>Responder por erro em campo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Data Owner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Steward, Custodian e Ethics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8283A"/>
                          </a:solidFill>
                          <a:latin typeface="Arial"/>
                        </a:rPr>
                        <a:t>DPO: C</a:t>
                      </a:r>
                    </a:p>
                  </a:txBody>
                  <a:tcPr marL="73152" marR="64008" marT="36576" marB="36576">
                    <a:solidFill>
                      <a:srgbClr val="FFFFFF"/>
                    </a:solidFill>
                    <a:lnL w="9000">
                      <a:solidFill>
                        <a:srgbClr val="CAD5DC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806440" y="5705856"/>
            <a:ext cx="5669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Siglas e responsabilidades devem ser discutidas e aprovadas pelo grupo.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Do áudio à ação, cada etapa tem um controle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A transcrição não vira ação automaticamente.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65376"/>
            <a:ext cx="23042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65376"/>
            <a:ext cx="2304288" cy="109728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3969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78608"/>
            <a:ext cx="19751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E49"/>
                </a:solidFill>
                <a:latin typeface="Arial"/>
              </a:rPr>
              <a:t>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108960"/>
            <a:ext cx="199339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Áudio, GPS e identidade
Coleta mínima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6F86"/>
                </a:solidFill>
                <a:latin typeface="Arial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1865376"/>
            <a:ext cx="23042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1865376"/>
            <a:ext cx="2304288" cy="109728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13969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78608"/>
            <a:ext cx="19751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E49"/>
                </a:solidFill>
                <a:latin typeface="Arial"/>
              </a:rPr>
              <a:t>INFORMAÇÃO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08960"/>
            <a:ext cx="199339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Transcrição, intenção e
entidades com confiança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7432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6F86"/>
                </a:solidFill>
                <a:latin typeface="Arial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656" y="1865376"/>
            <a:ext cx="23042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91656" y="1865376"/>
            <a:ext cx="2304288" cy="109728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13969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578608"/>
            <a:ext cx="19751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E49"/>
                </a:solidFill>
                <a:latin typeface="Arial"/>
              </a:rPr>
              <a:t>CONHECIMENTO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108960"/>
            <a:ext cx="199339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Registro estruturado
confirmado pelo profissional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7432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6F86"/>
                </a:solidFill>
                <a:latin typeface="Arial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1865376"/>
            <a:ext cx="23042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0304" y="1865376"/>
            <a:ext cx="2304288" cy="109728"/>
          </a:xfrm>
          <a:prstGeom prst="rect">
            <a:avLst/>
          </a:prstGeom>
          <a:solidFill>
            <a:srgbClr val="2A3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213969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578608"/>
            <a:ext cx="19751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E49"/>
                </a:solidFill>
                <a:latin typeface="Arial"/>
              </a:rPr>
              <a:t>INTELIGÊNCIA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3108960"/>
            <a:ext cx="199339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Ação operacional
com permissão humana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754880"/>
            <a:ext cx="11009376" cy="841248"/>
          </a:xfrm>
          <a:prstGeom prst="rect">
            <a:avLst/>
          </a:prstGeom>
          <a:solidFill>
            <a:srgbClr val="1B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956048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Exemplo: “km 82, sentido capital” → transcrição e intenção → ocorrência lida de volta → confirmação antes do envio.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1616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3F63"/>
                </a:solidFill>
                <a:latin typeface="Arial"/>
              </a:rPr>
              <a:t>Acionar recurso continua sujeito à confirmação e à decisão do CCO.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O log permite reconstruir a interação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Registro mínimo para auditoria, investigação de falhas e melhoria do sistema.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188720"/>
            <a:ext cx="10954512" cy="640080"/>
          </a:xfrm>
          <a:prstGeom prst="rect">
            <a:avLst/>
          </a:prstGeom>
          <a:solidFill>
            <a:srgbClr val="1B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344168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EVENTO 2026-0458  |  REGISTRO DE OCORRÊNCIA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QUEM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2359152"/>
            <a:ext cx="2404872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2478024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insp_017
Inspeção de tráfego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048256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QUANDO / ONDE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10712" y="2359152"/>
            <a:ext cx="2404871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10712" y="2478024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21:14:08 -03:00
SP-348, km 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048256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COMANDO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99632" y="2359152"/>
            <a:ext cx="2404872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99632" y="2478024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“Registrar acidente
com vítima...”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048256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CONFIANÇA STT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88552" y="2359152"/>
            <a:ext cx="2404872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88552" y="2478024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0,91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785615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VERSÕES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4096511"/>
            <a:ext cx="2404872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4215383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STT / LLM / prompt / base
whisper-small-pt 1.2 · base 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3785615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RESPOSTA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10712" y="4096511"/>
            <a:ext cx="2404871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10712" y="4215383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“Vou registrar.
Confirma?”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3785615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CONFIRMAÇÃO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99632" y="4096511"/>
            <a:ext cx="2404872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99632" y="4215383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“Confirmo” por voz
21:14:20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785615"/>
            <a:ext cx="2514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F86"/>
                </a:solidFill>
                <a:latin typeface="Arial"/>
              </a:rPr>
              <a:t>RESULTADO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88552" y="4096511"/>
            <a:ext cx="2404872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988552" y="4215383"/>
            <a:ext cx="249631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Registro criado
ID 2026-0458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3328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B78"/>
                </a:solidFill>
                <a:latin typeface="Arial"/>
              </a:rPr>
              <a:t>Também entram no log: intenção e criticidade, forma da confirmação, falhas e vínculo com o evento anterior.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A confirmação cresce conforme o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O agente pede esclarecimento quando falta informação e não adivinha.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07592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6F86"/>
                </a:solidFill>
                <a:latin typeface="Arial"/>
              </a:rPr>
              <a:t>CONSULTA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307592"/>
            <a:ext cx="2423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Resposta informativa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307592"/>
            <a:ext cx="6217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Sem confirmação; informa fonte e horário.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020824"/>
            <a:ext cx="10744200" cy="0"/>
          </a:xfrm>
          <a:prstGeom prst="line">
            <a:avLst/>
          </a:prstGeom>
          <a:ln w="1143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331720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6F86"/>
                </a:solidFill>
                <a:latin typeface="Arial"/>
              </a:rPr>
              <a:t>REGISTRO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331720"/>
            <a:ext cx="2423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Ocorrência ou atualização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331720"/>
            <a:ext cx="6217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Lê o resumo; pede “confirmo” ou toque. Repete km e sentido.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3044952"/>
            <a:ext cx="10744200" cy="0"/>
          </a:xfrm>
          <a:prstGeom prst="line">
            <a:avLst/>
          </a:prstGeom>
          <a:ln w="1143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355848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3F63"/>
                </a:solidFill>
                <a:latin typeface="Arial"/>
              </a:rPr>
              <a:t>ACIONAMENTO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55848"/>
            <a:ext cx="2423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Solicitar recurso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3355848"/>
            <a:ext cx="6217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Repete recurso e local; confirma operador autenticado. CCO decide.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069080"/>
            <a:ext cx="10744200" cy="0"/>
          </a:xfrm>
          <a:prstGeom prst="line">
            <a:avLst/>
          </a:prstGeom>
          <a:ln w="1143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379976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3F63"/>
                </a:solidFill>
                <a:latin typeface="Arial"/>
              </a:rPr>
              <a:t>ENCERRAMENTO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379976"/>
            <a:ext cx="2423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Fechar missão / atendimento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4379976"/>
            <a:ext cx="6217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Confirmação dupla, por voz e toque; campos obrigatórios completos.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093208"/>
            <a:ext cx="10744200" cy="0"/>
          </a:xfrm>
          <a:prstGeom prst="line">
            <a:avLst/>
          </a:prstGeom>
          <a:ln w="1143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1520" y="5577840"/>
            <a:ext cx="10698480" cy="566928"/>
          </a:xfrm>
          <a:prstGeom prst="rect">
            <a:avLst/>
          </a:prstGeom>
          <a:solidFill>
            <a:srgbClr val="DC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96712"/>
            <a:ext cx="10287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E49"/>
                </a:solidFill>
                <a:latin typeface="Arial"/>
              </a:rPr>
              <a:t>Se não entender: pergunta o que faltou, mantém o atendimento aberto e informa que nenhuma ação foi executada.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Uma ocorrência, duas visões por permissão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Demonstração: confirmação antes do envio e acesso conforme a persona.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48463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REGISTRO DA OCORRÊNCIA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00200"/>
            <a:ext cx="4983480" cy="694944"/>
          </a:xfrm>
          <a:prstGeom prst="rect">
            <a:avLst/>
          </a:prstGeom>
          <a:solidFill>
            <a:srgbClr val="DC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46504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E49"/>
                </a:solidFill>
                <a:latin typeface="Arial"/>
              </a:rPr>
              <a:t>Operador: “Acidente no km 82, sentido capital. Há vítima.”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468880"/>
            <a:ext cx="4983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615184"/>
            <a:ext cx="452628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Raly: “Vou registrar. Km 82, sentido capital, com vítima. Confirma?”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29000"/>
            <a:ext cx="4983480" cy="640080"/>
          </a:xfrm>
          <a:prstGeom prst="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6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Operador: “Confirmo.”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224528"/>
            <a:ext cx="4526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F86"/>
                </a:solidFill>
                <a:latin typeface="Arial"/>
              </a:rPr>
              <a:t>Raly: “Registro 2026-0458 criado. O CCO decide o acionamento.”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1298448"/>
            <a:ext cx="0" cy="4507992"/>
          </a:xfrm>
          <a:prstGeom prst="line">
            <a:avLst/>
          </a:prstGeom>
          <a:ln w="1778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7648" y="1207008"/>
            <a:ext cx="5029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CONSULTA DA MESMA OCORRÊNCIA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66420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3F63"/>
                </a:solidFill>
                <a:latin typeface="Arial"/>
              </a:rPr>
              <a:t>GUINCHO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84831"/>
            <a:ext cx="226771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283A"/>
                </a:solidFill>
                <a:latin typeface="Arial"/>
              </a:rPr>
              <a:t>SP-348, km 82
Sentido capital
“Há vítima no local; aguarde liberação do APH.”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968" y="1664208"/>
            <a:ext cx="0" cy="3072384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71432" y="166420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3F63"/>
                </a:solidFill>
                <a:latin typeface="Arial"/>
              </a:rPr>
              <a:t>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84831"/>
            <a:ext cx="23774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283A"/>
                </a:solidFill>
                <a:latin typeface="Arial"/>
              </a:rPr>
              <a:t>Dados de saúde necessários ao atendimento, registrados pelo APH, e protocolo aprovado.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4956048"/>
            <a:ext cx="4937760" cy="658368"/>
          </a:xfrm>
          <a:prstGeom prst="rect">
            <a:avLst/>
          </a:prstGeom>
          <a:solidFill>
            <a:srgbClr val="1B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5111496"/>
            <a:ext cx="45537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 guincho não recebe dados clínicos.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E49"/>
                </a:solidFill>
                <a:latin typeface="Arial"/>
              </a:rPr>
              <a:t>Limites claros e riscos que podem ser medidos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32104"/>
            <a:ext cx="685800" cy="50292"/>
          </a:xfrm>
          <a:prstGeom prst="rect">
            <a:avLst/>
          </a:prstGeom>
          <a:solidFill>
            <a:srgbClr val="0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731520"/>
            <a:ext cx="10195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B78"/>
                </a:solidFill>
                <a:latin typeface="Arial"/>
              </a:rPr>
              <a:t>Regras de segurança, teste de viés e aplicação nas demais disciplinas.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6583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B78"/>
                </a:solidFill>
                <a:latin typeface="Arial"/>
              </a:rPr>
              <a:t>GOVERNANÇA EM IA  |  CHALLENGE MOTIVA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6F86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316736"/>
            <a:ext cx="187451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316736"/>
            <a:ext cx="3794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E49"/>
                </a:solidFill>
                <a:latin typeface="Arial"/>
              </a:rPr>
              <a:t>Não sugere conduta clínica; orienta a seguir protocolo e regulação.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" y="2029967"/>
            <a:ext cx="5358384" cy="0"/>
          </a:xfrm>
          <a:prstGeom prst="line">
            <a:avLst/>
          </a:prstGeom>
          <a:ln w="1016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2304288"/>
            <a:ext cx="187451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BASE APROVADA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304288"/>
            <a:ext cx="3794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E49"/>
                </a:solidFill>
                <a:latin typeface="Arial"/>
              </a:rPr>
              <a:t>Responde a partir de procedimentos validados; sem fonte, abstém-se.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3017520"/>
            <a:ext cx="5358384" cy="0"/>
          </a:xfrm>
          <a:prstGeom prst="line">
            <a:avLst/>
          </a:prstGeom>
          <a:ln w="1016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3291840"/>
            <a:ext cx="187451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ÁUDIO AMBIENTE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291840"/>
            <a:ext cx="37947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E49"/>
                </a:solidFill>
                <a:latin typeface="Arial"/>
              </a:rPr>
              <a:t>Não executa comando crítico de terceiros; exige operador autenticado e confirmação.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" y="4005072"/>
            <a:ext cx="5358384" cy="0"/>
          </a:xfrm>
          <a:prstGeom prst="line">
            <a:avLst/>
          </a:prstGeom>
          <a:ln w="1016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46520" y="1261872"/>
            <a:ext cx="5102352" cy="3072384"/>
          </a:xfrm>
          <a:prstGeom prst="rect">
            <a:avLst/>
          </a:prstGeom>
          <a:solidFill>
            <a:srgbClr val="DC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526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E49"/>
                </a:solidFill>
                <a:latin typeface="Arial"/>
              </a:rPr>
              <a:t>VIÉS NO RECONHECIMENTO DE VOZ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993392"/>
            <a:ext cx="450799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83A"/>
                </a:solidFill>
                <a:latin typeface="Arial"/>
              </a:rPr>
              <a:t>Testar comandos com profissionais de diferentes regiões, com e sem ruído. Comparar a taxa de erro de palavras (WER) e erros em km e sentido por grupo.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64408"/>
            <a:ext cx="44805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6F86"/>
                </a:solidFill>
                <a:latin typeface="Arial"/>
              </a:rPr>
              <a:t>Diferença acima de 5 p.p. aciona análise e mitigação.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681728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F86"/>
                </a:solidFill>
                <a:latin typeface="Arial"/>
              </a:rPr>
              <a:t>INTEGRAÇÃO NA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5047488"/>
            <a:ext cx="10881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83A"/>
                </a:solidFill>
                <a:latin typeface="Arial"/>
              </a:rPr>
              <a:t>RPA: log e revisão humana  ·  GenAI: RAG aprovado e RBAC  ·  PLN: criticidade e ambiguidade  ·  Front: confirmação editável  ·  Visão: anonimização  ·  IoT: wake word e telemetria não validada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5897880"/>
            <a:ext cx="10835640" cy="320040"/>
          </a:xfrm>
          <a:prstGeom prst="rect">
            <a:avLst/>
          </a:prstGeom>
          <a:solidFill>
            <a:srgbClr val="1B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934456"/>
            <a:ext cx="10561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Raly apoia a operação; decisões críticas continuam com profissionais autorizados.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Governança da Interação por Voz — Raly | Sprint 1</dc:title>
  <dc:subject>Defesa dos critérios de governança definidos no relatório da Sprint 1</dc:subject>
  <dc:creator>Rodrigo Wolkoff Giorgi; Carlos Mamede Eduardo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